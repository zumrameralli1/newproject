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Outfit"/>
      <p:regular r:id="rId18"/>
      <p:bold r:id="rId19"/>
    </p:embeddedFont>
    <p:embeddedFont>
      <p:font typeface="JetBrains Mono"/>
      <p:regular r:id="rId20"/>
      <p:bold r:id="rId21"/>
      <p:italic r:id="rId22"/>
      <p:boldItalic r:id="rId23"/>
    </p:embeddedFont>
    <p:embeddedFont>
      <p:font typeface="Space Grotesk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FA0DC7-D8F1-4EDA-8E6F-C8B2444E0214}">
  <a:tblStyle styleId="{82FA0DC7-D8F1-4EDA-8E6F-C8B2444E021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-regular.fntdata"/><Relationship Id="rId22" Type="http://schemas.openxmlformats.org/officeDocument/2006/relationships/font" Target="fonts/JetBrainsMono-italic.fntdata"/><Relationship Id="rId21" Type="http://schemas.openxmlformats.org/officeDocument/2006/relationships/font" Target="fonts/JetBrainsMono-bold.fntdata"/><Relationship Id="rId24" Type="http://schemas.openxmlformats.org/officeDocument/2006/relationships/font" Target="fonts/SpaceGrotesk-regular.fntdata"/><Relationship Id="rId23" Type="http://schemas.openxmlformats.org/officeDocument/2006/relationships/font" Target="fonts/JetBrains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SpaceGrotesk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Outfit-bold.fntdata"/><Relationship Id="rId18" Type="http://schemas.openxmlformats.org/officeDocument/2006/relationships/font" Target="fonts/Outfi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715000" y="1809750"/>
            <a:ext cx="762000" cy="571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295200" y="1996500"/>
            <a:ext cx="1160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BOOK RECOMMENDATION SYSTEM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429000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BBF24"/>
                </a:solidFill>
                <a:latin typeface="Outfit"/>
                <a:ea typeface="Outfit"/>
                <a:cs typeface="Outfit"/>
                <a:sym typeface="Outfit"/>
              </a:rPr>
              <a:t>A CONTENT-BASED FILTERING FRAMEWORK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EXECUTIVE SUMMARY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2481560"/>
            <a:ext cx="66008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Philosophy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072110"/>
            <a:ext cx="628650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This project introduces a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zero-dependency recommendation engine</a:t>
            </a:r>
            <a:r>
              <a:rPr b="0" i="0" lang="en-US" sz="16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designed for high-performance literary discovery. By utilizing a pure Python backend and a lightweight Vanilla JS frontend, the system delivers sub-100ms similarity scoring without the overhead of external libraries.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38350"/>
            <a:ext cx="3492549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38350"/>
            <a:ext cx="3492549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38350"/>
            <a:ext cx="3492549" cy="33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ARCHITECTURAL PRINCIPLES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962025" y="3171825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BBF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Standalone Engine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62025" y="3810000"/>
            <a:ext cx="271149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Built using native Python HTTP libraries to ensure maximum portability across server environments.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740324" y="3171825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BBF24"/>
                </a:solidFill>
                <a:latin typeface="Space Grotesk"/>
                <a:ea typeface="Space Grotesk"/>
                <a:cs typeface="Space Grotesk"/>
                <a:sym typeface="Space Grotesk"/>
              </a:rPr>
              <a:t>LRU Optimization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4740324" y="3810000"/>
            <a:ext cx="271149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Implements Least Recently Used (LRU) caching to handle recurring similarity queries with instantaneous response times.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518624" y="3171825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BBF24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Metadata Driven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518624" y="3810000"/>
            <a:ext cx="271149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Leverages multidimensional book schemas (Genres, Keywords, Author Bias) for granular recommendation accuracy.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476500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0324" y="2476500"/>
            <a:ext cx="3524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8624" y="2476500"/>
            <a:ext cx="352425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02905"/>
            <a:ext cx="5238750" cy="1433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MATHEMATICAL SCORING ENGINE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3298180"/>
            <a:ext cx="4648200" cy="29973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866775" y="3788419"/>
            <a:ext cx="4648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Weighted Similarity Algorithm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715125" y="2795587"/>
            <a:ext cx="490537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Genre Dominance (2x):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Prioritizes thematic alignment to ensure fundamental category matching.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715125" y="3462337"/>
            <a:ext cx="490537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Keyword Synergy (1x):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Captures subtle narrative nuances such as "Dystopia" or "Strategy".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715125" y="4129087"/>
            <a:ext cx="490537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Quality Bias (0.2x):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Normalizes the score based on community-verified ratings.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381750" y="2795587"/>
            <a:ext cx="190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Outfit"/>
                <a:ea typeface="Outfit"/>
                <a:cs typeface="Outfit"/>
                <a:sym typeface="Outfit"/>
              </a:rPr>
              <a:t>→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381750" y="3462337"/>
            <a:ext cx="190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Outfit"/>
                <a:ea typeface="Outfit"/>
                <a:cs typeface="Outfit"/>
                <a:sym typeface="Outfit"/>
              </a:rPr>
              <a:t>→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381750" y="4129087"/>
            <a:ext cx="190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Outfit"/>
                <a:ea typeface="Outfit"/>
                <a:cs typeface="Outfit"/>
                <a:sym typeface="Outfit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SCHEMA SPECIFICATION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571500" y="2266950"/>
            <a:ext cx="11049000" cy="2905125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" name="Google Shape;139;p17"/>
          <p:cNvGraphicFramePr/>
          <p:nvPr/>
        </p:nvGraphicFramePr>
        <p:xfrm>
          <a:off x="430375" y="20835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{82FA0DC7-D8F1-4EDA-8E6F-C8B2444E0214}</a:tableStyleId>
              </a:tblPr>
              <a:tblGrid>
                <a:gridCol w="2345450"/>
                <a:gridCol w="2262175"/>
                <a:gridCol w="6753800"/>
              </a:tblGrid>
              <a:tr h="67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Object Key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Data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Functionality in Filtering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</a:tr>
              <a:tr h="67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lt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Genres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lt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Set / Array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lt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Core Categorization (Primary scoring weight)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7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lt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Keywords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lt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Set / Array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lt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Semantic Refinement (Secondary matching)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7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lt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Rating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lt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Float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lt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Quality Validation (Tie-breaker logic)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7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lt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Year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lt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Integer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lt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Temporal Sorting (Chronological organization)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7"/>
          <p:cNvSpPr/>
          <p:nvPr/>
        </p:nvSpPr>
        <p:spPr>
          <a:xfrm>
            <a:off x="571500" y="3443287"/>
            <a:ext cx="228093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2852439" y="3443287"/>
            <a:ext cx="219997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5052417" y="3443287"/>
            <a:ext cx="656808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571500" y="4014787"/>
            <a:ext cx="228093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2852439" y="4014787"/>
            <a:ext cx="219997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5052417" y="4014787"/>
            <a:ext cx="656808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71500" y="4586287"/>
            <a:ext cx="228093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2852439" y="4586287"/>
            <a:ext cx="219997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052417" y="4586287"/>
            <a:ext cx="656808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71500" y="5284837"/>
            <a:ext cx="22809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2852439" y="5284825"/>
            <a:ext cx="21999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052417" y="5284787"/>
            <a:ext cx="65682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71500" y="2243137"/>
            <a:ext cx="52006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BACKEND CORE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2824162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BBF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Python Efficiency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3195637"/>
            <a:ext cx="4953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Our backend eliminates the need for heavyweight frameworks like Flask or Django. By extending BaseHTTPRequestHandler, we achieve a lean memory footprint.</a:t>
            </a:r>
            <a:endParaRPr sz="2400"/>
          </a:p>
        </p:txBody>
      </p:sp>
      <p:sp>
        <p:nvSpPr>
          <p:cNvPr id="160" name="Google Shape;160;p18"/>
          <p:cNvSpPr txBox="1"/>
          <p:nvPr/>
        </p:nvSpPr>
        <p:spPr>
          <a:xfrm>
            <a:off x="6317825" y="3195637"/>
            <a:ext cx="4953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</a:t>
            </a:r>
            <a:r>
              <a:rPr b="1" i="0" lang="en-US" sz="24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ContentBasedRecommender</a:t>
            </a:r>
            <a:r>
              <a:rPr b="0" i="0" lang="en-US" sz="24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class encapsulates all logic, providing a clean separation between data ingestion and algorithmic scoring.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2150" y="3353888"/>
            <a:ext cx="5238750" cy="117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830575" y="1338725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ASYNCHRONOUS UX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571500" y="1325263"/>
            <a:ext cx="76200" cy="581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571488" y="3014600"/>
            <a:ext cx="5500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Dynamic Interaction</a:t>
            </a:r>
            <a:endParaRPr sz="2200"/>
          </a:p>
        </p:txBody>
      </p:sp>
      <p:sp>
        <p:nvSpPr>
          <p:cNvPr id="170" name="Google Shape;170;p19"/>
          <p:cNvSpPr txBox="1"/>
          <p:nvPr/>
        </p:nvSpPr>
        <p:spPr>
          <a:xfrm>
            <a:off x="571500" y="3766675"/>
            <a:ext cx="52389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frontend utilizes the Fetch API for non-blocking I/O. Users receive instant search feedback and recommendation updates without page refreshes.</a:t>
            </a:r>
            <a:endParaRPr sz="2500"/>
          </a:p>
        </p:txBody>
      </p:sp>
      <p:sp>
        <p:nvSpPr>
          <p:cNvPr id="171" name="Google Shape;171;p19"/>
          <p:cNvSpPr txBox="1"/>
          <p:nvPr/>
        </p:nvSpPr>
        <p:spPr>
          <a:xfrm>
            <a:off x="6502175" y="3602025"/>
            <a:ext cx="48387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API Endpoints: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/api/books (Search/Sort)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/api/recommend (Similarity)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52525"/>
            <a:ext cx="11049000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PREDICTIVE ACCURACY (EXAMPLE)</a:t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4633912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The visualization demonstrates high confidence scores for seminal Science Fiction and Fantasy pairings based on metadata synergy.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PERFORMANCE</a:t>
            </a:r>
            <a:endParaRPr/>
          </a:p>
        </p:txBody>
      </p:sp>
      <p:sp>
        <p:nvSpPr>
          <p:cNvPr id="187" name="Google Shape;187;p21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571500" y="2919412"/>
            <a:ext cx="4191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2DD4BF"/>
                </a:solidFill>
                <a:latin typeface="Outfit"/>
                <a:ea typeface="Outfit"/>
                <a:cs typeface="Outfit"/>
                <a:sym typeface="Outfit"/>
              </a:rPr>
              <a:t>128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571500" y="4252912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BBF24"/>
                </a:solidFill>
                <a:latin typeface="Outfit"/>
                <a:ea typeface="Outfit"/>
                <a:cs typeface="Outfit"/>
                <a:sym typeface="Outfit"/>
              </a:rPr>
              <a:t>CACHED STATES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5334000" y="3195637"/>
            <a:ext cx="66009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Optimized Throughput</a:t>
            </a:r>
            <a:endParaRPr sz="2500"/>
          </a:p>
        </p:txBody>
      </p:sp>
      <p:sp>
        <p:nvSpPr>
          <p:cNvPr id="191" name="Google Shape;191;p21"/>
          <p:cNvSpPr txBox="1"/>
          <p:nvPr/>
        </p:nvSpPr>
        <p:spPr>
          <a:xfrm>
            <a:off x="5334000" y="3839237"/>
            <a:ext cx="6286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By leveraging Python's lru_cache, the system stores the 128 most frequent recommendation pairs in memory. This reduces computational complexity from O(N) to O(1) for high-traffic queries, ensuring a fluid user experience even with expanding datasets.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SIMILARITY VISUALIZATION</a:t>
            </a:r>
            <a:endParaRPr/>
          </a:p>
        </p:txBody>
      </p:sp>
      <p:sp>
        <p:nvSpPr>
          <p:cNvPr id="198" name="Google Shape;198;p22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571505" y="1892366"/>
            <a:ext cx="55008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Network of Knowledge</a:t>
            </a:r>
            <a:endParaRPr sz="1900"/>
          </a:p>
        </p:txBody>
      </p:sp>
      <p:sp>
        <p:nvSpPr>
          <p:cNvPr id="200" name="Google Shape;200;p22"/>
          <p:cNvSpPr txBox="1"/>
          <p:nvPr/>
        </p:nvSpPr>
        <p:spPr>
          <a:xfrm>
            <a:off x="571500" y="2643675"/>
            <a:ext cx="9153900" cy="13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Our algorithm treats books as nodes in a high-dimensional space. The "distance" between any two books is calculated via set intersections of genres and keywords, effectively creating a virtual topology of user interests.</a:t>
            </a:r>
            <a:endParaRPr sz="2400"/>
          </a:p>
        </p:txBody>
      </p:sp>
      <p:sp>
        <p:nvSpPr>
          <p:cNvPr id="201" name="Google Shape;201;p22"/>
          <p:cNvSpPr txBox="1"/>
          <p:nvPr/>
        </p:nvSpPr>
        <p:spPr>
          <a:xfrm>
            <a:off x="571502" y="4719500"/>
            <a:ext cx="5238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DD4BF"/>
                </a:solidFill>
                <a:latin typeface="Outfit"/>
                <a:ea typeface="Outfit"/>
                <a:cs typeface="Outfit"/>
                <a:sym typeface="Outfit"/>
              </a:rPr>
              <a:t>This approach solves the </a:t>
            </a:r>
            <a:r>
              <a:rPr b="1" i="0" lang="en-US" sz="2200" u="none" cap="none" strike="noStrike">
                <a:solidFill>
                  <a:srgbClr val="2DD4BF"/>
                </a:solidFill>
                <a:latin typeface="Outfit"/>
                <a:ea typeface="Outfit"/>
                <a:cs typeface="Outfit"/>
                <a:sym typeface="Outfit"/>
              </a:rPr>
              <a:t>"Filter Bubble"</a:t>
            </a:r>
            <a:r>
              <a:rPr b="0" i="0" lang="en-US" sz="2200" u="none" cap="none" strike="noStrike">
                <a:solidFill>
                  <a:srgbClr val="2DD4BF"/>
                </a:solidFill>
                <a:latin typeface="Outfit"/>
                <a:ea typeface="Outfit"/>
                <a:cs typeface="Outfit"/>
                <a:sym typeface="Outfit"/>
              </a:rPr>
              <a:t> problem by introducing weighted serendipity through quality ratings.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 txBox="1"/>
          <p:nvPr/>
        </p:nvSpPr>
        <p:spPr>
          <a:xfrm>
            <a:off x="895350" y="2252662"/>
            <a:ext cx="1040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 for listening!</a:t>
            </a:r>
            <a:endParaRPr/>
          </a:p>
        </p:txBody>
      </p:sp>
      <p:sp>
        <p:nvSpPr>
          <p:cNvPr id="209" name="Google Shape;209;p23"/>
          <p:cNvSpPr txBox="1"/>
          <p:nvPr/>
        </p:nvSpPr>
        <p:spPr>
          <a:xfrm>
            <a:off x="2927950" y="3414700"/>
            <a:ext cx="566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Efe EFENDİOĞLU - 221005034</a:t>
            </a:r>
            <a:endParaRPr sz="2300">
              <a:solidFill>
                <a:srgbClr val="F8FAFC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Saliha Zümra MERALLI - 221005044</a:t>
            </a:r>
            <a:endParaRPr sz="2300">
              <a:solidFill>
                <a:srgbClr val="F8FAF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4076700" y="4405312"/>
            <a:ext cx="1619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127.0.0.1:8000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6076950" y="4405312"/>
            <a:ext cx="20383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Python Native Stack</a:t>
            </a:r>
            <a:endParaRPr/>
          </a:p>
        </p:txBody>
      </p:sp>
      <p:pic>
        <p:nvPicPr>
          <p:cNvPr descr="image.png" id="212" name="Google Shape;21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6700" y="4424362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76950" y="4424362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